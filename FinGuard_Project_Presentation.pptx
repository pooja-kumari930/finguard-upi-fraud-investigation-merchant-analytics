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56295" y="183701"/>
            <a:ext cx="274320" cy="2743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286000" y="1828800"/>
            <a:ext cx="274320" cy="274320"/>
          </a:xfrm>
          <a:prstGeom prst="ellipse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84080" y="830826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0375" y="3566160"/>
            <a:ext cx="274320" cy="2743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FinGuard UPI Fraud Investigation &amp; Merchant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FFFF"/>
                </a:solidFill>
                <a:latin typeface="Arial"/>
              </a:defRPr>
            </a:pPr>
            <a:r>
              <a:t>AgentIQ Datathon 2026 | FinTech &amp; BFSI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7055" y="3881289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ED2"/>
                </a:solidFill>
                <a:latin typeface="Arial"/>
              </a:defRPr>
            </a:pPr>
            <a:r>
              <a:rPr dirty="0"/>
              <a:t>Team Name</a:t>
            </a:r>
            <a:r>
              <a:rPr lang="en-US" dirty="0"/>
              <a:t>: </a:t>
            </a:r>
            <a:r>
              <a:rPr lang="en-US" dirty="0" err="1"/>
              <a:t>TrustPay</a:t>
            </a:r>
            <a:r>
              <a:rPr lang="en-US" dirty="0"/>
              <a:t> Analysis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698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ED2"/>
                </a:solidFill>
                <a:latin typeface="Arial"/>
              </a:defRPr>
            </a:pPr>
            <a:r>
              <a:rPr dirty="0"/>
              <a:t>Team Members: </a:t>
            </a:r>
            <a:r>
              <a:rPr lang="en-US" dirty="0"/>
              <a:t>Pooja Kumari, Srushti </a:t>
            </a:r>
            <a:r>
              <a:rPr lang="en-US" dirty="0" err="1"/>
              <a:t>Patrange</a:t>
            </a:r>
            <a:r>
              <a:rPr lang="en-US" dirty="0"/>
              <a:t>, Suchita Jagtap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ED2"/>
                </a:solidFill>
                <a:latin typeface="Arial"/>
              </a:defRPr>
            </a:pPr>
            <a:r>
              <a:t>Institution: Lovely Professional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ED2"/>
                </a:solidFill>
                <a:latin typeface="Arial"/>
              </a:defRPr>
            </a:pPr>
            <a:r>
              <a:t>Digital payment systems generate huge numbers of transactions every day. Analysts need to identify unusual transaction patterns, risky merchants, repeated disputes and suspicious connections.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BED2"/>
                </a:solidFill>
                <a:latin typeface="Arial"/>
              </a:defRPr>
            </a:pPr>
            <a:r>
              <a:t>The challenge is that transaction, KYC, merchant and chargeback data can be messy, inconsistent and difficult to analyze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237744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Messy Payment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651760"/>
            <a:ext cx="237744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Difficult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651760"/>
            <a:ext cx="237744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Hidden Risk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651760"/>
            <a:ext cx="237744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Slow Investigation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3749039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Missing / inconsistent data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Incorrect analysis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Duplicate records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Inflated metrics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Broken relationships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Difficult investigation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Multiple status formats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Unreliable KPIs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Chargeback records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Hard to connect disputes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FF"/>
                </a:solidFill>
                <a:latin typeface="Arial"/>
              </a:defRPr>
            </a:pPr>
            <a:r>
              <a:t>“FinGuard converts fragmented UPI, KYC, merchant and chargeback data into an interactive investigation and analytics platform.”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560320" cy="18288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Data Rescue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Clean, standardize, and validate raw payment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286000"/>
            <a:ext cx="2560320" cy="18288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Analytics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Compute KPIs, risk metrics, and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286000"/>
            <a:ext cx="2560320" cy="18288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Interactive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Visual exploration of transactions and disputes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260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286000"/>
            <a:ext cx="2560320" cy="18288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2468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Investigation &amp; NL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Entity investigation and natural-language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Data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UPI Transactions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097280"/>
            <a:ext cx="256032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KYC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097280"/>
            <a:ext cx="256032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Merchant Master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097280"/>
            <a:ext cx="256032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Chargebacks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210312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Fields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UPI Transactions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Payment activity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Transaction ID, User ID, Merchant ID, Amount, Timestamp, Status, UTR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KYC Records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Customer risk context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User ID, KYC Status, Risk Segment, City, State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Merchant Master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Merchant context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Merchant ID, MCC, Category, Business Type, Status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Chargebacks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Payment disputes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Transaction ID, User ID, Merchant ID, Disputed Amount, Reason, Severity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007F"/>
                </a:solidFill>
                <a:latin typeface="Arial"/>
              </a:defRPr>
            </a:pPr>
            <a:r>
              <a:t>All data used in the project is synthetic.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Data Rescue &amp; Quality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474720" cy="219456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007F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ED2"/>
                </a:solidFill>
                <a:latin typeface="Arial"/>
              </a:defRPr>
            </a:pPr>
            <a:r>
              <a:t>• Missing UTRs</a:t>
            </a:r>
            <a:br/>
            <a:r>
              <a:t>• Currency symbols</a:t>
            </a:r>
            <a:br/>
            <a:r>
              <a:t>• Duplicate records</a:t>
            </a:r>
            <a:br/>
            <a:r>
              <a:t>• Inconsistent statuses</a:t>
            </a:r>
            <a:br/>
            <a:r>
              <a:t>• Inconsistent IDs</a:t>
            </a:r>
            <a:br/>
            <a:r>
              <a:t>• Invalid relationships</a:t>
            </a:r>
            <a:br/>
            <a:r>
              <a:t>• Messy KYC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3474720" cy="219456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1234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FF"/>
                </a:solidFill>
                <a:latin typeface="Arial"/>
              </a:defRPr>
            </a:pPr>
            <a:r>
              <a:t>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6459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ED2"/>
                </a:solidFill>
                <a:latin typeface="Arial"/>
              </a:defRPr>
            </a:pPr>
            <a:r>
              <a:t>• Standardization</a:t>
            </a:r>
            <a:br/>
            <a:r>
              <a:t>• Deduplication</a:t>
            </a:r>
            <a:br/>
            <a:r>
              <a:t>• Type conversion</a:t>
            </a:r>
            <a:br/>
            <a:r>
              <a:t>• ID normalization</a:t>
            </a:r>
            <a:br/>
            <a:r>
              <a:t>• Date/time normalization</a:t>
            </a:r>
            <a:br/>
            <a:r>
              <a:t>• Status normalization</a:t>
            </a:r>
            <a:br/>
            <a:r>
              <a:t>• Missing-value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828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097280"/>
            <a:ext cx="3017520" cy="219456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2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164592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Query-ready analytical datasets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65760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Quality Check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6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Duplicate transactions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Removed/flagged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Missing UTR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Flagged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Status values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IDs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Relationships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Validated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Chargebacks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4BED2"/>
                          </a:solidFill>
                          <a:latin typeface="Arial"/>
                        </a:defRPr>
                      </a:pPr>
                      <a:r>
                        <a:t>Linked where possible</a:t>
                      </a:r>
                    </a:p>
                  </a:txBody>
                  <a:tcPr>
                    <a:solidFill>
                      <a:srgbClr val="0A0F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FinGuard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097280"/>
            <a:ext cx="10332720" cy="5303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566159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007F"/>
                </a:solidFill>
                <a:latin typeface="Arial"/>
              </a:defRPr>
            </a:pPr>
            <a:r>
              <a:t>[MISSING IMAGE: arch.png]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05907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ED2"/>
                </a:solidFill>
                <a:latin typeface="Arial"/>
              </a:defRPr>
            </a:pPr>
            <a:r>
              <a:t>Figure: End-to-end data flow from CSV sources to end-user dashboards.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161663-B1AB-B956-E7A8-D41EF7507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30" y="969264"/>
            <a:ext cx="10854008" cy="55595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Analytics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10312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FF"/>
                </a:solidFill>
                <a:latin typeface="Arial"/>
              </a:defRPr>
            </a:pPr>
            <a:r>
              <a:t>20,000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ED2"/>
                </a:solidFill>
                <a:latin typeface="Arial"/>
              </a:defRPr>
            </a:pPr>
            <a:r>
              <a:t>Cleaned Transactions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097280"/>
            <a:ext cx="210312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0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FF"/>
                </a:solidFill>
                <a:latin typeface="Arial"/>
              </a:defRPr>
            </a:pPr>
            <a:r>
              <a:t>₹239.2M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ED2"/>
                </a:solidFill>
                <a:latin typeface="Arial"/>
              </a:defRPr>
            </a:pPr>
            <a:r>
              <a:t>Transaction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097280"/>
            <a:ext cx="210312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9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FF"/>
                </a:solidFill>
                <a:latin typeface="Arial"/>
              </a:defRPr>
            </a:pPr>
            <a:r>
              <a:t>₹11,962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ED2"/>
                </a:solidFill>
                <a:latin typeface="Arial"/>
              </a:defRPr>
            </a:pPr>
            <a:r>
              <a:t>Average Transaction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097280"/>
            <a:ext cx="210312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79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FF"/>
                </a:solidFill>
                <a:latin typeface="Arial"/>
              </a:defRPr>
            </a:pPr>
            <a:r>
              <a:t>2,800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ED2"/>
                </a:solidFill>
                <a:latin typeface="Arial"/>
              </a:defRPr>
            </a:pPr>
            <a:r>
              <a:t>Cleaned Chargebacks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097280"/>
            <a:ext cx="210312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84080" y="12344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FF"/>
                </a:solidFill>
                <a:latin typeface="Arial"/>
              </a:defRPr>
            </a:pPr>
            <a:r>
              <a:t>9.8%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6916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4BED2"/>
                </a:solidFill>
                <a:latin typeface="Arial"/>
              </a:defRPr>
            </a:pPr>
            <a:r>
              <a:t>Failed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43200"/>
            <a:ext cx="3474720" cy="25603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Chargeback Severity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3429000"/>
            <a:ext cx="548640" cy="22860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977639"/>
            <a:ext cx="109728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4526280"/>
            <a:ext cx="365760" cy="228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97679" y="2743200"/>
            <a:ext cx="3474720" cy="25603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KYC Risk Distribution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Low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79" y="3429000"/>
            <a:ext cx="914400" cy="228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59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79" y="3977639"/>
            <a:ext cx="128016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59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High Risk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79" y="4526280"/>
            <a:ext cx="731520" cy="22860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046719" y="2743200"/>
            <a:ext cx="3474720" cy="25603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79" y="2880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Transaction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Success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19" y="3429000"/>
            <a:ext cx="1463040" cy="2286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599" y="3931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Failed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19" y="3977639"/>
            <a:ext cx="365760" cy="228600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29599" y="4480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ED2"/>
                </a:solidFill>
                <a:latin typeface="Arial"/>
              </a:defRPr>
            </a:pPr>
            <a:r>
              <a:t>Pending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18319" y="4526280"/>
            <a:ext cx="18288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Interactive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FF"/>
                </a:solidFill>
                <a:latin typeface="Arial"/>
              </a:defRPr>
            </a:pPr>
            <a:r>
              <a:t>Executive KPIs • Category Analysis • Chargeback Monitoring • Interactive Filters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23561-D715-7C0D-7417-33BFECD6F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9" y="1612490"/>
            <a:ext cx="5860025" cy="37978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73ABC3-0608-224F-3DA4-2F563E9E7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2491"/>
            <a:ext cx="5860025" cy="3797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Risk Investigation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Analysts can investigate merchant/user activity by combining:</a:t>
            </a:r>
            <a:br/>
            <a:r>
              <a:t>• Transaction activity</a:t>
            </a:r>
            <a:br/>
            <a:r>
              <a:t>• Chargeback activity</a:t>
            </a:r>
            <a:br/>
            <a:r>
              <a:t>• KYC risk segment</a:t>
            </a:r>
            <a:br/>
            <a:r>
              <a:t>• UTR quality signals</a:t>
            </a:r>
            <a:br/>
            <a:r>
              <a:t>• Repeated merchant relationships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097280"/>
            <a:ext cx="5669280" cy="50292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3429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007F"/>
                </a:solidFill>
                <a:latin typeface="Arial"/>
              </a:defRPr>
            </a:pPr>
            <a:r>
              <a:t>[MISSING IMAGE: risk.png]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007F"/>
                </a:solidFill>
                <a:latin typeface="Arial"/>
              </a:defRPr>
            </a:pPr>
            <a:r>
              <a:t>Risk indicators are investigation signals, not confirmed fraud verdicts.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71BDD4-21AC-F416-E6C9-CE4750A7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709" y="914331"/>
            <a:ext cx="6302478" cy="5669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Fraud Ring Explorer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57600" cy="5303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FF"/>
                </a:solidFill>
                <a:latin typeface="Arial"/>
              </a:defRPr>
            </a:pPr>
            <a:r>
              <a:t>Network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ED2"/>
                </a:solidFill>
                <a:latin typeface="Arial"/>
              </a:defRPr>
            </a:pPr>
            <a:r>
              <a:t>• Blue nodes = Users</a:t>
            </a:r>
            <a:br/>
            <a:r>
              <a:t>• Pink nodes = Merchants</a:t>
            </a:r>
            <a:br/>
            <a:r>
              <a:t>• Lines = Transaction relationships</a:t>
            </a:r>
            <a:br/>
            <a:br/>
            <a:r>
              <a:t>The network view helps analysts identify unusual connectivity, shared merchants, and concentrated transaction relationships.</a:t>
            </a:r>
            <a:br/>
            <a:br/>
            <a:r>
              <a:t>Potentially suspicious connection patterns — not confirmed fraud rings.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3F1A5D-CFCB-A99D-9418-11CFB61DD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5" y="1084113"/>
            <a:ext cx="7462683" cy="5188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Ask FinGuard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57600" cy="5303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FF"/>
                </a:solidFill>
                <a:latin typeface="Arial"/>
              </a:defRPr>
            </a:pPr>
            <a:r>
              <a:t>Supported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ED2"/>
                </a:solidFill>
                <a:latin typeface="Arial"/>
              </a:defRPr>
            </a:pPr>
            <a:r>
              <a:t>• Top chargeback reasons?</a:t>
            </a:r>
            <a:br/>
            <a:r>
              <a:t>• Highest chargeback category?</a:t>
            </a:r>
            <a:br/>
            <a:r>
              <a:t>• How many failed transactions?</a:t>
            </a:r>
            <a:br/>
            <a:r>
              <a:t>• Total transaction value?</a:t>
            </a:r>
            <a:br/>
            <a:r>
              <a:t>• Chargeback patterns by category?</a:t>
            </a:r>
            <a:br/>
            <a:br/>
            <a:r>
              <a:t>The current prototype uses rule-based query routing to map supported natural-language questions to analytical views.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B2F09E-ECB8-92FB-ECA2-57F5C827E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12" y="1097280"/>
            <a:ext cx="751184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73736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097280"/>
            <a:ext cx="173736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173736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59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Plotly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97280"/>
            <a:ext cx="173736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173736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PyArrow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1097280"/>
            <a:ext cx="1737360" cy="10972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0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201168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Python + 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2926080"/>
            <a:ext cx="201168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6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Data 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2926080"/>
            <a:ext cx="201168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Plotly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926080"/>
            <a:ext cx="201168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Streamlit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63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007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2926080"/>
            <a:ext cx="201168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84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GitHub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Key Features &amp;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94960" cy="41148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FF"/>
                </a:solidFill>
                <a:latin typeface="Arial"/>
              </a:defRPr>
            </a:pPr>
            <a: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ED2"/>
                </a:solidFill>
                <a:latin typeface="Arial"/>
              </a:defRPr>
            </a:pPr>
            <a:r>
              <a:t>• Data quality validation</a:t>
            </a:r>
            <a:br/>
            <a:r>
              <a:t>• Interactive KPIs</a:t>
            </a:r>
            <a:br/>
            <a:r>
              <a:t>• Merchant analytics</a:t>
            </a:r>
            <a:br/>
            <a:r>
              <a:t>• Chargeback monitoring</a:t>
            </a:r>
            <a:br/>
            <a:r>
              <a:t>• Risk investigation</a:t>
            </a:r>
            <a:br/>
            <a:r>
              <a:t>• Network visualization</a:t>
            </a:r>
            <a:br/>
            <a:r>
              <a:t>• NL query prototype</a:t>
            </a:r>
            <a:br/>
            <a:r>
              <a:t>• Explainable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41148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FF00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007F"/>
                </a:solidFill>
                <a:latin typeface="Arial"/>
              </a:defRPr>
            </a:pPr>
            <a:r>
              <a:t>BUSINESS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ED2"/>
                </a:solidFill>
                <a:latin typeface="Arial"/>
              </a:defRPr>
            </a:pPr>
            <a:r>
              <a:t>• Faster investigation</a:t>
            </a:r>
            <a:br/>
            <a:r>
              <a:t>• Better merchant risk visibility</a:t>
            </a:r>
            <a:br/>
            <a:r>
              <a:t>• Easier chargeback analysis</a:t>
            </a:r>
            <a:br/>
            <a:r>
              <a:t>• Connected payment relationships</a:t>
            </a:r>
            <a:br/>
            <a:r>
              <a:t>• Reliable analytics from cleaned data</a:t>
            </a:r>
            <a:br/>
            <a:r>
              <a:t>• Single dashboard for multiple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94960"/>
            <a:ext cx="11064240" cy="7315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“From fragmented payment data to an investigation-ready analytical workflow.”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FF"/>
                </a:solidFill>
                <a:latin typeface="Arial"/>
              </a:defRPr>
            </a:pPr>
            <a:r>
              <a:t>Results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371600" cy="54864"/>
          </a:xfrm>
          <a:prstGeom prst="rect">
            <a:avLst/>
          </a:prstGeom>
          <a:solidFill>
            <a:srgbClr val="FF0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103120" cy="9144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ED2"/>
                </a:solidFill>
                <a:latin typeface="Arial"/>
              </a:defRPr>
            </a:pPr>
            <a:r>
              <a:t>Cleaned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371600"/>
            <a:ext cx="2103120" cy="9144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2,800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ED2"/>
                </a:solidFill>
                <a:latin typeface="Arial"/>
              </a:defRPr>
            </a:pPr>
            <a:r>
              <a:t>Cleaned Chargebacks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371600"/>
            <a:ext cx="2103120" cy="9144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9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28,920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ED2"/>
                </a:solidFill>
                <a:latin typeface="Arial"/>
              </a:defRPr>
            </a:pPr>
            <a:r>
              <a:t>Unique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371600"/>
            <a:ext cx="2103120" cy="9144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4,343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ED2"/>
                </a:solidFill>
                <a:latin typeface="Arial"/>
              </a:defRPr>
            </a:pPr>
            <a:r>
              <a:t>Unique Merchants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371600"/>
            <a:ext cx="2103120" cy="91440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00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0" y="1463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₹239.2M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4BED2"/>
                </a:solidFill>
                <a:latin typeface="Arial"/>
              </a:defRPr>
            </a:pPr>
            <a:r>
              <a:t>Transaction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007F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108960"/>
            <a:ext cx="5303520" cy="6400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ED2"/>
                </a:solidFill>
                <a:latin typeface="Arial"/>
              </a:defRPr>
            </a:pPr>
            <a:r>
              <a:t>• Real-time transaction streaming</a:t>
            </a:r>
            <a:br/>
            <a:r>
              <a:t>• Graph-based anomaly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108960"/>
            <a:ext cx="5303520" cy="6400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ED2"/>
                </a:solidFill>
                <a:latin typeface="Arial"/>
              </a:defRPr>
            </a:pPr>
            <a:r>
              <a:t>• Machine learning risk scoring</a:t>
            </a:r>
            <a:br/>
            <a:r>
              <a:t>• Device/location risk signals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5303520" cy="6400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ED2"/>
                </a:solidFill>
                <a:latin typeface="Arial"/>
              </a:defRPr>
            </a:pPr>
            <a:r>
              <a:t>• More advanced LLM agent</a:t>
            </a:r>
            <a:br/>
            <a:r>
              <a:t>• Real-time fraud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31920"/>
            <a:ext cx="5303520" cy="64008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40233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ED2"/>
                </a:solidFill>
                <a:latin typeface="Arial"/>
              </a:defRPr>
            </a:pPr>
            <a:r>
              <a:t>• Advanced graph algorithms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“FinGuard UPI Fraud Investigation &amp; Merchant Analytics transforms messy payment data into a practical investigation and decision-support platform.”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60320"/>
            <a:ext cx="2560320" cy="16459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FF"/>
                </a:solidFill>
                <a:latin typeface="Arial"/>
              </a:defRPr>
            </a:pPr>
            <a:r>
              <a:t>CLEAN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2"/>
                </a:solidFill>
                <a:latin typeface="Arial"/>
              </a:defRPr>
            </a:pPr>
            <a:r>
              <a:t>Reliable analytical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560320"/>
            <a:ext cx="2560320" cy="16459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FF"/>
                </a:solidFill>
                <a:latin typeface="Arial"/>
              </a:defRPr>
            </a:pPr>
            <a:r>
              <a:t>ANALYZE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2"/>
                </a:solidFill>
                <a:latin typeface="Arial"/>
              </a:defRPr>
            </a:pPr>
            <a:r>
              <a:t>Understand transactions and disputes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560320"/>
            <a:ext cx="2560320" cy="16459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FF"/>
                </a:solidFill>
                <a:latin typeface="Arial"/>
              </a:defRPr>
            </a:pPr>
            <a: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2"/>
                </a:solidFill>
                <a:latin typeface="Arial"/>
              </a:defRPr>
            </a:pPr>
            <a:r>
              <a:t>Explore user–merchant relationships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2560320"/>
            <a:ext cx="2560320" cy="1645920"/>
          </a:xfrm>
          <a:prstGeom prst="roundRect">
            <a:avLst/>
          </a:prstGeom>
          <a:solidFill>
            <a:srgbClr val="161E32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0" y="2743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FFF"/>
                </a:solidFill>
                <a:latin typeface="Arial"/>
              </a:defRPr>
            </a:pPr>
            <a:r>
              <a:t>INVESTIGATE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200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4BED2"/>
                </a:solidFill>
                <a:latin typeface="Arial"/>
              </a:defRPr>
            </a:pPr>
            <a:r>
              <a:t>Identify patterns that deserve analyst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825</Words>
  <Application>Microsoft Office PowerPoint</Application>
  <PresentationFormat>Widescreen</PresentationFormat>
  <Paragraphs>171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poojakumari930@outlook.com</cp:lastModifiedBy>
  <cp:revision>9</cp:revision>
  <dcterms:created xsi:type="dcterms:W3CDTF">2013-01-27T09:14:16Z</dcterms:created>
  <dcterms:modified xsi:type="dcterms:W3CDTF">2026-09-16T18:00:47Z</dcterms:modified>
  <cp:category/>
</cp:coreProperties>
</file>